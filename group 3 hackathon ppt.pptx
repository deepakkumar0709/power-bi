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6" r:id="rId5"/>
    <p:sldId id="260" r:id="rId6"/>
    <p:sldId id="261" r:id="rId7"/>
    <p:sldId id="264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FIAH EQBAL" userId="3a9886549c3a7546" providerId="LiveId" clId="{AAF719BE-B984-4A73-A283-873029A84595}"/>
    <pc:docChg chg="modSld">
      <pc:chgData name="NAFIAH EQBAL" userId="3a9886549c3a7546" providerId="LiveId" clId="{AAF719BE-B984-4A73-A283-873029A84595}" dt="2025-11-04T04:45:40.526" v="3" actId="20577"/>
      <pc:docMkLst>
        <pc:docMk/>
      </pc:docMkLst>
      <pc:sldChg chg="modSp mod">
        <pc:chgData name="NAFIAH EQBAL" userId="3a9886549c3a7546" providerId="LiveId" clId="{AAF719BE-B984-4A73-A283-873029A84595}" dt="2025-11-04T04:45:40.526" v="3" actId="20577"/>
        <pc:sldMkLst>
          <pc:docMk/>
          <pc:sldMk cId="1459196619" sldId="263"/>
        </pc:sldMkLst>
        <pc:spChg chg="mod">
          <ac:chgData name="NAFIAH EQBAL" userId="3a9886549c3a7546" providerId="LiveId" clId="{AAF719BE-B984-4A73-A283-873029A84595}" dt="2025-11-04T04:45:40.526" v="3" actId="20577"/>
          <ac:spMkLst>
            <pc:docMk/>
            <pc:sldMk cId="1459196619" sldId="263"/>
            <ac:spMk id="6" creationId="{7FB7E2A1-4511-7B7A-843D-E1EAD47727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4AF7-083B-DE89-3BA7-BBBEA712C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F9EBB-E22D-E5C3-C1A5-A5C5B7118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164A-40AB-6F97-F5ED-D26E04F9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4177D-A16B-C329-8C04-50AE4C8F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A60DD-E0A9-B9FD-F8F5-C72E61AD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44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F0A3-00FB-D4F8-7D4E-9D36A1A4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7D6A-E5BD-2EF4-900A-62AB5C3CE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A63D-19A7-804C-F4DA-076FB4C7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A38FF-E557-8B17-B2ED-7D7C5695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2B162-DB92-8F5F-9E14-FE8D1F2E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27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713E-F0EE-4E89-946A-4D0D7A00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39F25-0F52-E2E0-5424-C6B763385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5CDEE-C4FD-E418-0CBE-09F2D87C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772F4-A724-CF6D-29B1-22AE5AD2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73E5D-6CDF-AD18-7B73-60485490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05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12EC-CA0B-F00A-DBC1-6A916A72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87990-C029-0017-2734-2BE66C468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BE637-A9F0-D2CD-159B-4EACC7137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D23F6-0FD2-0428-168E-B701CFAB2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89C19-992D-0095-CFBB-CBA8C559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B0AB3-9150-4165-F54D-13E327F1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38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04F0-ADEC-7B1F-B0DF-D4E589E8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9D71C-525A-69D6-BDC1-394496C6F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8DA22-7E84-75EB-38D4-32E37F8EA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2135D-8E36-75CF-1B3C-8CF1D4933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4837D-4197-BE45-E027-550CF95F5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1685C-32E7-262D-6722-1DAC6802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8124B5-0ED2-B0D2-9CAC-D181FBA8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B608E-5DC2-7357-712B-559F3EE1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67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92B5-10D5-144E-980B-3FECED7D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73FF0-AB15-6EED-1B35-76285382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3914F-1B9C-A7FA-9A95-B0161908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56F53-9F4D-2208-0050-56F7ED62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317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1B8C3-EF66-F5D6-5E2C-41EAB294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718B9-950D-317C-1634-85D44307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DD403-3531-A151-4F4C-8137DC79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9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2A2B-1982-B84A-CD52-93FAD6296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A4A4-2DB4-C439-FF97-B602C3DBC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64124-1264-A9D4-60B3-D828A5834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F2279-A94A-60E8-A04F-AE19C670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0704A-205C-7115-AF3A-38FC9993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91FCE-BB66-6CB2-73AF-5DA8BEDA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39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5DA7-01FB-5FA6-AD3F-4304B4ECE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F97DC-D193-BECB-88C0-DEC0939C4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C3FAB-6D77-25D5-EF72-74A294BDB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DF3A4-89A9-98CE-A97E-8ABAD4E31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64020-9A60-2E4F-8D8B-0A0943B2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2D2A9-DAB7-88D8-BF71-C87FA972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25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D056-9582-8F3A-9859-39BA2342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E23D5-CBF2-F5D1-68F0-FAEA677E6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2AB69-88BA-0F14-A8F1-14E4DC5B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40E8A-865E-FB8A-BA94-BFDBD461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8956-CCE9-286B-B3EB-F3E008F2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983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CF839-9C38-BF0D-0F1B-94D85EC09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CF1BB-A37D-4353-0C8B-2042CEA81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408D2-6F48-EE01-09D4-6FF8AAFF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02329-E13B-0923-161C-3F6337E5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12094-A559-2BBF-C1EE-3567E013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56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16DF06-5557-3795-5AE0-14558E6D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190E5-8E56-2422-84AA-1D121ED61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C0619-2A38-F32A-7D21-0D5989059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BCB23-D318-4E77-B548-78B8423BAC96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ACD55-5067-9E9C-69B1-A4962FA1D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5C311-0023-78E0-EF44-36D856F8B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43EB0-16B8-48C7-BCDE-16802D43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44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0EEF-CBB4-B180-E3B1-1437948FB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023E8-1866-32FF-7420-CEE57C5F1E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8A6F5-B5BB-6830-BF87-36C48460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651" y="0"/>
            <a:ext cx="1244763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3C2D95-5225-D05B-6D84-B89F766DFBB1}"/>
              </a:ext>
            </a:extLst>
          </p:cNvPr>
          <p:cNvSpPr txBox="1"/>
          <p:nvPr/>
        </p:nvSpPr>
        <p:spPr>
          <a:xfrm>
            <a:off x="5383160" y="1600200"/>
            <a:ext cx="62238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Title:NFHS-5 India District /state/UT Health Dashboard Dataset</a:t>
            </a:r>
          </a:p>
          <a:p>
            <a:pPr algn="ctr"/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Name: National Family Health Survey (NFHS-5) Districts Factsheet Data</a:t>
            </a:r>
          </a:p>
          <a:p>
            <a:pPr algn="ctr"/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Name: BI Curious</a:t>
            </a:r>
          </a:p>
          <a:p>
            <a:pPr algn="ctr"/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Members: Deepak Kumar, Sonam Bharti, </a:t>
            </a:r>
            <a:r>
              <a:rPr lang="en-IN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Nafiah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Eqbal, Archi Verma, Ambrish Dubey</a:t>
            </a:r>
          </a:p>
          <a:p>
            <a:pPr algn="ctr"/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Tool Used: Microsoft Power BI</a:t>
            </a:r>
          </a:p>
        </p:txBody>
      </p:sp>
    </p:spTree>
    <p:extLst>
      <p:ext uri="{BB962C8B-B14F-4D97-AF65-F5344CB8AC3E}">
        <p14:creationId xmlns:p14="http://schemas.microsoft.com/office/powerpoint/2010/main" val="335856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D1656-49B3-CBB8-5AF6-1BE9971B3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y Girls' Education | Malala Fund">
            <a:extLst>
              <a:ext uri="{FF2B5EF4-FFF2-40B4-BE49-F238E27FC236}">
                <a16:creationId xmlns:a16="http://schemas.microsoft.com/office/drawing/2014/main" id="{11EBE970-6EE6-2EDC-3976-D4A22EC1D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142" y="0"/>
            <a:ext cx="586985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3,800+ Light Blue Background Stock ...">
            <a:extLst>
              <a:ext uri="{FF2B5EF4-FFF2-40B4-BE49-F238E27FC236}">
                <a16:creationId xmlns:a16="http://schemas.microsoft.com/office/drawing/2014/main" id="{BB2C4AE7-CACE-F804-9ACC-D0379377D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5471"/>
            <a:ext cx="63221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2D6AFA-972E-893A-FD14-257C4AC40D7C}"/>
              </a:ext>
            </a:extLst>
          </p:cNvPr>
          <p:cNvSpPr txBox="1"/>
          <p:nvPr/>
        </p:nvSpPr>
        <p:spPr>
          <a:xfrm>
            <a:off x="1120877" y="530942"/>
            <a:ext cx="4296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OBJECTIVES 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691A8-98C0-8CC1-B85D-8C676EA0157F}"/>
              </a:ext>
            </a:extLst>
          </p:cNvPr>
          <p:cNvSpPr txBox="1"/>
          <p:nvPr/>
        </p:nvSpPr>
        <p:spPr>
          <a:xfrm>
            <a:off x="201561" y="1640070"/>
            <a:ext cx="61353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the relationship between female education levels and immunization rates across Indian states.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 To compare public healthcare expenditure (OOPE) and identify regions with higher financial burdens.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 To assess the proportion of institutional births and understand public vs. private healthcare preferences.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To identify regional disparities in key health and education indicators using visual maps and dashboards.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To validate data consistency and highlight areas needing further verification, such as ORS treatment rates.</a:t>
            </a:r>
          </a:p>
        </p:txBody>
      </p:sp>
    </p:spTree>
    <p:extLst>
      <p:ext uri="{BB962C8B-B14F-4D97-AF65-F5344CB8AC3E}">
        <p14:creationId xmlns:p14="http://schemas.microsoft.com/office/powerpoint/2010/main" val="311404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53,800+ Light Blue Background Stock ...">
            <a:extLst>
              <a:ext uri="{FF2B5EF4-FFF2-40B4-BE49-F238E27FC236}">
                <a16:creationId xmlns:a16="http://schemas.microsoft.com/office/drawing/2014/main" id="{00F972C4-2A5E-E629-F96F-EE401ABAB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C10B35-920A-D194-27D1-B5ECB07EDC06}"/>
              </a:ext>
            </a:extLst>
          </p:cNvPr>
          <p:cNvSpPr txBox="1"/>
          <p:nvPr/>
        </p:nvSpPr>
        <p:spPr>
          <a:xfrm>
            <a:off x="2359743" y="462116"/>
            <a:ext cx="67940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DATA UNDERSTANDING AND CLEANING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7E2A1-4511-7B7A-843D-E1EAD47727AF}"/>
              </a:ext>
            </a:extLst>
          </p:cNvPr>
          <p:cNvSpPr txBox="1"/>
          <p:nvPr/>
        </p:nvSpPr>
        <p:spPr>
          <a:xfrm>
            <a:off x="757084" y="1889429"/>
            <a:ext cx="105008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 Data Collection:NFHS-5 district-level data was collected from the official dataset containing 109 health and demographic indicators across all States and Union Territories.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Cleaning: Irrelevant and duplicate entries were removed, missing values were handled, and column names were standardized to ensure accuracy and consistency.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Transformation : Data was categorized into themes such as Health Index, Fertility, Literacy, and Lifestyle. Calculated columns and DAX measures were created using Power Query and Power BI.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 Tools Used: Microsoft Excel was used for initial cleaning, while Power BI and Power Query were used for transformation, </a:t>
            </a:r>
            <a:r>
              <a:rPr lang="en-IN" dirty="0" err="1"/>
              <a:t>modeling</a:t>
            </a:r>
            <a:r>
              <a:rPr lang="en-IN" dirty="0"/>
              <a:t>, and visualization. DAX was applied for KPI and index calculations.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 Dashboard Development: Interactive visuals, KPI cards, and charts were created in Power BI to </a:t>
            </a:r>
            <a:r>
              <a:rPr lang="en-IN" dirty="0" err="1"/>
              <a:t>analyze</a:t>
            </a:r>
            <a:r>
              <a:rPr lang="en-IN" dirty="0"/>
              <a:t> and compare district and state-level performance on key health indicators</a:t>
            </a:r>
          </a:p>
        </p:txBody>
      </p:sp>
    </p:spTree>
    <p:extLst>
      <p:ext uri="{BB962C8B-B14F-4D97-AF65-F5344CB8AC3E}">
        <p14:creationId xmlns:p14="http://schemas.microsoft.com/office/powerpoint/2010/main" val="145919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66BD3-F050-C724-7B22-D44ABCD52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2" y="191115"/>
            <a:ext cx="5711313" cy="3466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BBA45-5DEE-B406-44BE-946FD9340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209" y="191115"/>
            <a:ext cx="5711314" cy="3535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E20A8-EF53-B9D2-887C-43B8D71D3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91"/>
          <a:stretch>
            <a:fillRect/>
          </a:stretch>
        </p:blipFill>
        <p:spPr>
          <a:xfrm>
            <a:off x="737419" y="3868994"/>
            <a:ext cx="9901084" cy="29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80F35-5338-1241-1609-28D14E7E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Key insights hi-res stock photography and images - Alamy">
            <a:extLst>
              <a:ext uri="{FF2B5EF4-FFF2-40B4-BE49-F238E27FC236}">
                <a16:creationId xmlns:a16="http://schemas.microsoft.com/office/drawing/2014/main" id="{DD011346-2A71-FBDD-E31B-B10D2C338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0465"/>
          <a:stretch>
            <a:fillRect/>
          </a:stretch>
        </p:blipFill>
        <p:spPr bwMode="auto">
          <a:xfrm>
            <a:off x="6223819" y="403123"/>
            <a:ext cx="5270091" cy="594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73D2ED-C988-9186-DD42-F08122FCCF66}"/>
              </a:ext>
            </a:extLst>
          </p:cNvPr>
          <p:cNvSpPr txBox="1"/>
          <p:nvPr/>
        </p:nvSpPr>
        <p:spPr>
          <a:xfrm>
            <a:off x="540776" y="560438"/>
            <a:ext cx="54274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KEY INSIGHTS AND ANALYTICS</a:t>
            </a:r>
            <a:endParaRPr lang="e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AD8CA-8449-7D47-58CF-1C22584698B4}"/>
              </a:ext>
            </a:extLst>
          </p:cNvPr>
          <p:cNvSpPr txBox="1"/>
          <p:nvPr/>
        </p:nvSpPr>
        <p:spPr>
          <a:xfrm>
            <a:off x="698090" y="2242884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States with higher female education show better immunization and health outcomes.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 Public healthcare costs (OOPE) are lower in southern states, showing stronger infrastructure.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r>
              <a:rPr lang="en-IN" sz="2000" dirty="0"/>
              <a:t>3. . Maps and visuals highlight clear regional gaps in immunization and education.</a:t>
            </a:r>
          </a:p>
          <a:p>
            <a:endParaRPr lang="en-IN" sz="2000" dirty="0"/>
          </a:p>
          <a:p>
            <a:r>
              <a:rPr lang="en-IN" sz="2000" dirty="0"/>
              <a:t>4. Overall data is reliable, though some ORS values need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15420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1FAB-0E7A-8556-BFF4-8D9EBA12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bout us – Lamp">
            <a:extLst>
              <a:ext uri="{FF2B5EF4-FFF2-40B4-BE49-F238E27FC236}">
                <a16:creationId xmlns:a16="http://schemas.microsoft.com/office/drawing/2014/main" id="{BD728C3C-9CA8-ACC1-D51A-81F141072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458" y="0"/>
            <a:ext cx="57125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7793D8-0075-EA7F-D876-E468469B0F3D}"/>
              </a:ext>
            </a:extLst>
          </p:cNvPr>
          <p:cNvSpPr txBox="1"/>
          <p:nvPr/>
        </p:nvSpPr>
        <p:spPr>
          <a:xfrm>
            <a:off x="511277" y="530942"/>
            <a:ext cx="52012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RECOMMENDATION OR BUSINESS IMPLICATION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81A7F-5DA5-75B7-FAEC-0356B2E4D16F}"/>
              </a:ext>
            </a:extLst>
          </p:cNvPr>
          <p:cNvSpPr txBox="1"/>
          <p:nvPr/>
        </p:nvSpPr>
        <p:spPr>
          <a:xfrm>
            <a:off x="383458" y="1777186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Promote women’s education and vaccination awareness to improve overall health outcomes.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Strengthen public healthcare services to reduce costs and dependence on private hospitals.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 Target underperforming states and districts with special health and education programs.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 Ensure accurate and reliable data for better health and policy planning.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 Build public–private partnerships to expand affordable and quality healthcare access.</a:t>
            </a:r>
          </a:p>
        </p:txBody>
      </p:sp>
    </p:spTree>
    <p:extLst>
      <p:ext uri="{BB962C8B-B14F-4D97-AF65-F5344CB8AC3E}">
        <p14:creationId xmlns:p14="http://schemas.microsoft.com/office/powerpoint/2010/main" val="3951566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3A26-41A7-6197-56EE-DEDBAB84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y Girls' Education | Malala Fund">
            <a:extLst>
              <a:ext uri="{FF2B5EF4-FFF2-40B4-BE49-F238E27FC236}">
                <a16:creationId xmlns:a16="http://schemas.microsoft.com/office/drawing/2014/main" id="{B6C74077-C198-F557-26FF-A4BA4C41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142" y="0"/>
            <a:ext cx="586985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3,800+ Light Blue Background Stock ...">
            <a:extLst>
              <a:ext uri="{FF2B5EF4-FFF2-40B4-BE49-F238E27FC236}">
                <a16:creationId xmlns:a16="http://schemas.microsoft.com/office/drawing/2014/main" id="{22316BF4-305A-F462-4346-8E7BEB283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5471"/>
            <a:ext cx="63221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FF5452-91F2-BD7F-99CE-EB52B89D0DDE}"/>
              </a:ext>
            </a:extLst>
          </p:cNvPr>
          <p:cNvSpPr txBox="1"/>
          <p:nvPr/>
        </p:nvSpPr>
        <p:spPr>
          <a:xfrm>
            <a:off x="1120877" y="530942"/>
            <a:ext cx="4296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CONCLUSION</a:t>
            </a:r>
            <a:endParaRPr lang="en-IN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B8AB0-9C60-CBA0-8A4C-6DE82ACBF5E1}"/>
              </a:ext>
            </a:extLst>
          </p:cNvPr>
          <p:cNvSpPr txBox="1"/>
          <p:nvPr/>
        </p:nvSpPr>
        <p:spPr>
          <a:xfrm>
            <a:off x="226142" y="1761102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Many states show gaps in health and education, especially where women’s education is low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 Poor immunization and high healthcare costs remain major concerns in several regions.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People depend more on private hospitals due to weak public healthcare services.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Promoting women’s education, improving healthcare, and fixing data issues can solve these problems.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Strong public–private partnerships can improve access, reduce costs, and boost overall development.</a:t>
            </a:r>
          </a:p>
        </p:txBody>
      </p:sp>
    </p:spTree>
    <p:extLst>
      <p:ext uri="{BB962C8B-B14F-4D97-AF65-F5344CB8AC3E}">
        <p14:creationId xmlns:p14="http://schemas.microsoft.com/office/powerpoint/2010/main" val="246278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EF66-440F-25A4-1236-2B702025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59D7-02B1-0459-8C49-B580AF8CE8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87583-0DCD-0EDC-8A43-070951C298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E2E98-9E9F-8B3D-6DD4-FCB9BAB2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651" y="0"/>
            <a:ext cx="1244763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4D5C1F-6CC1-D7F5-E38B-8731E816226E}"/>
              </a:ext>
            </a:extLst>
          </p:cNvPr>
          <p:cNvSpPr txBox="1"/>
          <p:nvPr/>
        </p:nvSpPr>
        <p:spPr>
          <a:xfrm>
            <a:off x="5628967" y="2974258"/>
            <a:ext cx="59730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THANK  YOU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529233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502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NAFIAH EQBAL</dc:creator>
  <cp:lastModifiedBy>NAFIAH EQBAL</cp:lastModifiedBy>
  <cp:revision>1</cp:revision>
  <dcterms:created xsi:type="dcterms:W3CDTF">2025-11-04T04:00:43Z</dcterms:created>
  <dcterms:modified xsi:type="dcterms:W3CDTF">2025-11-04T04:45:51Z</dcterms:modified>
</cp:coreProperties>
</file>